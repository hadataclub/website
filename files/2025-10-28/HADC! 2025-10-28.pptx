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DM Serif Display" panose="020F0502020204030204" pitchFamily="2" charset="0"/>
      <p:regular r:id="rId22"/>
    </p:embeddedFont>
    <p:embeddedFont>
      <p:font typeface="Open Sauce" panose="020B0604020202020204" charset="0"/>
      <p:regular r:id="rId23"/>
    </p:embeddedFont>
    <p:embeddedFont>
      <p:font typeface="Open Sauce Bold" panose="020B0604020202020204" charset="0"/>
      <p:regular r:id="rId24"/>
    </p:embeddedFont>
    <p:embeddedFont>
      <p:font typeface="Open Sauce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ature.com/articles/sdata20161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ature.com/articles/sdata20161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ature.com/articles/sdata20161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harris.me/files/HA_Data_Policy_v2025.docx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harris.me/files/HA_Data_Policy_v2025.docx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atsoft.org/article/view/v059i10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jstatsoft.org/article/view/v059i1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jstatsoft.org/article/view/v059i10" TargetMode="Externa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ataverse.or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ataverse.harvard.edu/dataverse/harvar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ataverse.harvard.edu/dataverse/harvar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ataverse.harvard.edu/dataverse/HAUDataverse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verse.harvard.edu/dataverse/HAUDataverse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harris.me/files/HA_Stats_Service_Policy_2025.docx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harris.me/files/HA_Stats_Service_Policy_2025.docx" TargetMode="External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492592" y="427884"/>
            <a:ext cx="3374136" cy="4114800"/>
          </a:xfrm>
          <a:custGeom>
            <a:avLst/>
            <a:gdLst/>
            <a:ahLst/>
            <a:cxnLst/>
            <a:rect l="l" t="t" r="r" b="b"/>
            <a:pathLst>
              <a:path w="3374136" h="4114800">
                <a:moveTo>
                  <a:pt x="0" y="0"/>
                </a:moveTo>
                <a:lnTo>
                  <a:pt x="3374136" y="0"/>
                </a:lnTo>
                <a:lnTo>
                  <a:pt x="33741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4706652" y="427884"/>
            <a:ext cx="4297441" cy="4114800"/>
          </a:xfrm>
          <a:custGeom>
            <a:avLst/>
            <a:gdLst/>
            <a:ahLst/>
            <a:cxnLst/>
            <a:rect l="l" t="t" r="r" b="b"/>
            <a:pathLst>
              <a:path w="4297441" h="4114800">
                <a:moveTo>
                  <a:pt x="0" y="0"/>
                </a:moveTo>
                <a:lnTo>
                  <a:pt x="4297441" y="0"/>
                </a:lnTo>
                <a:lnTo>
                  <a:pt x="42974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706652" y="6389005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HADC! (HARPER ADAMS DATA CLUB)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9102" y="4235088"/>
            <a:ext cx="17805996" cy="1859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90"/>
              </a:lnSpc>
            </a:pPr>
            <a:r>
              <a:rPr lang="en-US" sz="1092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Publish your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71329" y="8480425"/>
            <a:ext cx="294534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Ed Harris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8762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2025-10-28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1519580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Do people actually publish their data?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4743" y="3984057"/>
            <a:ext cx="5279398" cy="317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1"/>
              </a:lnSpc>
              <a:spcBef>
                <a:spcPct val="0"/>
              </a:spcBef>
            </a:pPr>
            <a:r>
              <a:rPr lang="en-US" sz="40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Yep! This is popular and has become an element of best practice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96152" y="2745952"/>
            <a:ext cx="10350903" cy="697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5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 spc="2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TRANSPARENCY AND REPRODUCIBILITY</a:t>
            </a:r>
          </a:p>
          <a:p>
            <a:pPr algn="l">
              <a:lnSpc>
                <a:spcPts val="3359"/>
              </a:lnSpc>
            </a:pPr>
            <a:r>
              <a:rPr lang="en-US" sz="2399" spc="2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SHARING DATA ALLOWS OTHERS TO VERIFY FINDINGS, REPRODUCE ANALYSES, AND BUILD CONFIDENCE IN THE RESEARCH.</a:t>
            </a:r>
          </a:p>
          <a:p>
            <a:pPr algn="l">
              <a:lnSpc>
                <a:spcPts val="3359"/>
              </a:lnSpc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359"/>
              </a:lnSpc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5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 spc="2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INCREASED VISIBILITY AND IMPACT</a:t>
            </a:r>
          </a:p>
          <a:p>
            <a:pPr algn="l">
              <a:lnSpc>
                <a:spcPts val="3359"/>
              </a:lnSpc>
            </a:pPr>
            <a:r>
              <a:rPr lang="en-US" sz="2399" spc="2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PUBLISHED DATASETS CAN BE CITED, ATTRACTING RECOGNITION AND BOOSTING THE REACH OF A RESEARCHER’S WORK.</a:t>
            </a:r>
          </a:p>
          <a:p>
            <a:pPr algn="l">
              <a:lnSpc>
                <a:spcPts val="3359"/>
              </a:lnSpc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359"/>
              </a:lnSpc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5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 spc="2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COLLABORATION AND REUSE</a:t>
            </a:r>
          </a:p>
          <a:p>
            <a:pPr algn="l">
              <a:lnSpc>
                <a:spcPts val="3359"/>
              </a:lnSpc>
            </a:pPr>
            <a:r>
              <a:rPr lang="en-US" sz="2399" spc="2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OPEN DATA SUPPORTS NEW DISCOVERIES BY ENABLING OTHERS TO COMBINE, REPURPOSE, OR EXTEND EXISTING DATASETS FOR FURTHER RESEARCH.</a:t>
            </a:r>
          </a:p>
          <a:p>
            <a:pPr algn="ctr">
              <a:lnSpc>
                <a:spcPts val="2239"/>
              </a:lnSpc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7842479" y="2762714"/>
            <a:ext cx="2377794" cy="1157561"/>
          </a:xfrm>
          <a:custGeom>
            <a:avLst/>
            <a:gdLst/>
            <a:ahLst/>
            <a:cxnLst/>
            <a:rect l="l" t="t" r="r" b="b"/>
            <a:pathLst>
              <a:path w="2377794" h="1157561">
                <a:moveTo>
                  <a:pt x="0" y="0"/>
                </a:moveTo>
                <a:lnTo>
                  <a:pt x="2377794" y="0"/>
                </a:lnTo>
                <a:lnTo>
                  <a:pt x="2377794" y="1157562"/>
                </a:lnTo>
                <a:lnTo>
                  <a:pt x="0" y="1157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93" r="-1321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7710428" y="4226613"/>
            <a:ext cx="2509845" cy="1669402"/>
          </a:xfrm>
          <a:custGeom>
            <a:avLst/>
            <a:gdLst/>
            <a:ahLst/>
            <a:cxnLst/>
            <a:rect l="l" t="t" r="r" b="b"/>
            <a:pathLst>
              <a:path w="2509845" h="1669402">
                <a:moveTo>
                  <a:pt x="0" y="0"/>
                </a:moveTo>
                <a:lnTo>
                  <a:pt x="2509845" y="0"/>
                </a:lnTo>
                <a:lnTo>
                  <a:pt x="2509845" y="1669402"/>
                </a:lnTo>
                <a:lnTo>
                  <a:pt x="0" y="1669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963" b="-1131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8605907" y="6142762"/>
            <a:ext cx="1614366" cy="1614366"/>
          </a:xfrm>
          <a:custGeom>
            <a:avLst/>
            <a:gdLst/>
            <a:ahLst/>
            <a:cxnLst/>
            <a:rect l="l" t="t" r="r" b="b"/>
            <a:pathLst>
              <a:path w="1614366" h="1614366">
                <a:moveTo>
                  <a:pt x="0" y="0"/>
                </a:moveTo>
                <a:lnTo>
                  <a:pt x="1614366" y="0"/>
                </a:lnTo>
                <a:lnTo>
                  <a:pt x="1614366" y="1614366"/>
                </a:lnTo>
                <a:lnTo>
                  <a:pt x="0" y="1614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7185584" y="7806585"/>
            <a:ext cx="3157432" cy="1302858"/>
          </a:xfrm>
          <a:custGeom>
            <a:avLst/>
            <a:gdLst/>
            <a:ahLst/>
            <a:cxnLst/>
            <a:rect l="l" t="t" r="r" b="b"/>
            <a:pathLst>
              <a:path w="3157432" h="1302858">
                <a:moveTo>
                  <a:pt x="0" y="0"/>
                </a:moveTo>
                <a:lnTo>
                  <a:pt x="3157432" y="0"/>
                </a:lnTo>
                <a:lnTo>
                  <a:pt x="3157432" y="1302858"/>
                </a:lnTo>
                <a:lnTo>
                  <a:pt x="0" y="1302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7187" b="-7515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5808400" y="7678485"/>
            <a:ext cx="1469534" cy="1430958"/>
          </a:xfrm>
          <a:custGeom>
            <a:avLst/>
            <a:gdLst/>
            <a:ahLst/>
            <a:cxnLst/>
            <a:rect l="l" t="t" r="r" b="b"/>
            <a:pathLst>
              <a:path w="1469534" h="1430958">
                <a:moveTo>
                  <a:pt x="0" y="0"/>
                </a:moveTo>
                <a:lnTo>
                  <a:pt x="1469534" y="0"/>
                </a:lnTo>
                <a:lnTo>
                  <a:pt x="1469534" y="1430958"/>
                </a:lnTo>
                <a:lnTo>
                  <a:pt x="0" y="1430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5884954" y="2629766"/>
            <a:ext cx="2286436" cy="1286120"/>
          </a:xfrm>
          <a:custGeom>
            <a:avLst/>
            <a:gdLst/>
            <a:ahLst/>
            <a:cxnLst/>
            <a:rect l="l" t="t" r="r" b="b"/>
            <a:pathLst>
              <a:path w="2286436" h="1286120">
                <a:moveTo>
                  <a:pt x="0" y="0"/>
                </a:moveTo>
                <a:lnTo>
                  <a:pt x="2286436" y="0"/>
                </a:lnTo>
                <a:lnTo>
                  <a:pt x="2286436" y="1286121"/>
                </a:lnTo>
                <a:lnTo>
                  <a:pt x="0" y="12861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166399" y="1233825"/>
            <a:ext cx="1519580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Do people actually publish their data?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4432" y="4074213"/>
            <a:ext cx="6178645" cy="23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1"/>
              </a:lnSpc>
            </a:pPr>
            <a:r>
              <a:rPr lang="en-US" sz="40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Where do people publish datasets? </a:t>
            </a:r>
          </a:p>
          <a:p>
            <a:pPr marL="0" lvl="0" indent="0" algn="ctr">
              <a:lnSpc>
                <a:spcPts val="6431"/>
              </a:lnSpc>
              <a:spcBef>
                <a:spcPct val="0"/>
              </a:spcBef>
            </a:pPr>
            <a:r>
              <a:rPr lang="en-US" sz="40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(there are many options)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01130" y="2854768"/>
            <a:ext cx="7686870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OPERATED BY CERN AND OPENAIRE. SUPPORTS DATASETS, SOFTWARE, AND PUBLICATIONS. PROVIDES </a:t>
            </a:r>
            <a:r>
              <a:rPr lang="en-US" sz="1800" b="1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DOI </a:t>
            </a:r>
            <a:r>
              <a:rPr lang="en-US" sz="1800" spc="1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AND SUPPORTS </a:t>
            </a:r>
            <a:r>
              <a:rPr lang="en-US" sz="1800" b="1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GITHUB </a:t>
            </a:r>
            <a:r>
              <a:rPr lang="en-US" sz="1800" spc="1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01130" y="4486354"/>
            <a:ext cx="611089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COMMERCIAL SERVICE WIDELY USED BY UNIVERSITIES. PROVIDES </a:t>
            </a:r>
            <a:r>
              <a:rPr lang="en-US" sz="1800" b="1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DOI</a:t>
            </a:r>
            <a:r>
              <a:rPr lang="en-US" sz="1800" spc="1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VISUAL PREVIEWS, AND ANALYTICS.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01130" y="6463217"/>
            <a:ext cx="5670871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CURATED REPOSITORY FOR RESEARCH DATA UNDERLYING PUBLICATIONS. OFTEN JOURNAL-INTEGRATED.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01130" y="7941497"/>
            <a:ext cx="59904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OPEN-SOURCE DATAVERSE REPOSITORY USED GLOBALLY. SUPPORTS METADATA-RICH DATASETS AND </a:t>
            </a:r>
            <a:r>
              <a:rPr lang="en-US" sz="1800" b="1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DOI</a:t>
            </a:r>
            <a:r>
              <a:rPr lang="en-US" sz="1800" spc="1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7608524" y="0"/>
            <a:ext cx="10679476" cy="10287000"/>
          </a:xfrm>
          <a:custGeom>
            <a:avLst/>
            <a:gdLst/>
            <a:ahLst/>
            <a:cxnLst/>
            <a:rect l="l" t="t" r="r" b="b"/>
            <a:pathLst>
              <a:path w="10679476" h="10287000">
                <a:moveTo>
                  <a:pt x="0" y="0"/>
                </a:moveTo>
                <a:lnTo>
                  <a:pt x="10679476" y="0"/>
                </a:lnTo>
                <a:lnTo>
                  <a:pt x="106794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03133" y="1253589"/>
            <a:ext cx="11577266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Have you heard of </a:t>
            </a:r>
          </a:p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FAIR data?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6555" y="9396730"/>
            <a:ext cx="5512467" cy="6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u="sng" spc="13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nature.com/articles/sdata201618"/>
              </a:rPr>
              <a:t>WILKINSON, M. D., ET AL. (2016). THE FAIR GUIDING PRINCIPLES FOR SCIENTIFIC DATA MANAGEMENT AND STEWARDSHIP. SCIENTIFIC DATA, 3, 160018.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671125" y="0"/>
            <a:ext cx="4616875" cy="4447202"/>
          </a:xfrm>
          <a:custGeom>
            <a:avLst/>
            <a:gdLst/>
            <a:ahLst/>
            <a:cxnLst/>
            <a:rect l="l" t="t" r="r" b="b"/>
            <a:pathLst>
              <a:path w="4616875" h="4447202">
                <a:moveTo>
                  <a:pt x="0" y="0"/>
                </a:moveTo>
                <a:lnTo>
                  <a:pt x="4616875" y="0"/>
                </a:lnTo>
                <a:lnTo>
                  <a:pt x="4616875" y="4447202"/>
                </a:lnTo>
                <a:lnTo>
                  <a:pt x="0" y="4447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03133" y="1253589"/>
            <a:ext cx="11577266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FAIR data principles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76543" y="3326129"/>
            <a:ext cx="10103857" cy="585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spc="2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FINDABLE</a:t>
            </a:r>
            <a:r>
              <a:rPr lang="en-US" sz="2399" spc="2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DATA SHOULD BE EASY TO DISCOVER THROUGH CLEAR METADATA AND PERSISTENT IDENTIFIERS.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spc="2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ACCESSIBLE</a:t>
            </a:r>
            <a:r>
              <a:rPr lang="en-US" sz="2399" spc="2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ONCE FOUND, DATA SHOULD BE RETRIEVABLE USING STANDARDIZED PROTOCOLS.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spc="2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INTEROPERABLE</a:t>
            </a:r>
            <a:r>
              <a:rPr lang="en-US" sz="2399" spc="2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DATA SHOULD USE COMMON FORMATS AND VOCABULARIES TO ALLOW INTEGRATION WITH OTHER DATASETS.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spc="2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REUSABLE</a:t>
            </a:r>
            <a:r>
              <a:rPr lang="en-US" sz="2399" spc="2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DATA SHOULD BE WELL-DESCRIBED AND LICENSED TO ENABLE REUSE IN VARIOUS CONTEXTS.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399" spc="23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6555" y="9396730"/>
            <a:ext cx="5512467" cy="6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u="sng" spc="13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nature.com/articles/sdata201618"/>
              </a:rPr>
              <a:t>WILKINSON, M. D., ET AL. (2016). THE FAIR GUIDING PRINCIPLES FOR SCIENTIFIC DATA MANAGEMENT AND STEWARDSHIP. SCIENTIFIC DATA, 3, 160018.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671125" y="0"/>
            <a:ext cx="4616875" cy="4447202"/>
          </a:xfrm>
          <a:custGeom>
            <a:avLst/>
            <a:gdLst/>
            <a:ahLst/>
            <a:cxnLst/>
            <a:rect l="l" t="t" r="r" b="b"/>
            <a:pathLst>
              <a:path w="4616875" h="4447202">
                <a:moveTo>
                  <a:pt x="0" y="0"/>
                </a:moveTo>
                <a:lnTo>
                  <a:pt x="4616875" y="0"/>
                </a:lnTo>
                <a:lnTo>
                  <a:pt x="4616875" y="4447202"/>
                </a:lnTo>
                <a:lnTo>
                  <a:pt x="0" y="4447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03133" y="1253589"/>
            <a:ext cx="11577266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FAIR data principles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5850" y="3942726"/>
            <a:ext cx="10103857" cy="353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THESE PRINCIPLES AIM TO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ENHANCE THE ABILITY TO FIND AND USE DATA</a:t>
            </a:r>
            <a:r>
              <a:rPr lang="en-US" sz="3999" spc="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spc="40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THUS SUPPORTING KNOWLEDGE DISCOVERY AND INNOVATION.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6555" y="9396730"/>
            <a:ext cx="5512467" cy="6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u="sng" spc="13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nature.com/articles/sdata201618"/>
              </a:rPr>
              <a:t>WILKINSON, M. D., ET AL. (2016). THE FAIR GUIDING PRINCIPLES FOR SCIENTIFIC DATA MANAGEMENT AND STEWARDSHIP. SCIENTIFIC DATA, 3, 160018.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04744" y="2716837"/>
            <a:ext cx="7316901" cy="6109612"/>
          </a:xfrm>
          <a:custGeom>
            <a:avLst/>
            <a:gdLst/>
            <a:ahLst/>
            <a:cxnLst/>
            <a:rect l="l" t="t" r="r" b="b"/>
            <a:pathLst>
              <a:path w="7316901" h="6109612">
                <a:moveTo>
                  <a:pt x="0" y="0"/>
                </a:moveTo>
                <a:lnTo>
                  <a:pt x="7316901" y="0"/>
                </a:lnTo>
                <a:lnTo>
                  <a:pt x="7316901" y="6109612"/>
                </a:lnTo>
                <a:lnTo>
                  <a:pt x="0" y="6109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9610071" y="2760889"/>
            <a:ext cx="7511530" cy="6065561"/>
          </a:xfrm>
          <a:custGeom>
            <a:avLst/>
            <a:gdLst/>
            <a:ahLst/>
            <a:cxnLst/>
            <a:rect l="l" t="t" r="r" b="b"/>
            <a:pathLst>
              <a:path w="7511530" h="6065561">
                <a:moveTo>
                  <a:pt x="0" y="0"/>
                </a:moveTo>
                <a:lnTo>
                  <a:pt x="7511530" y="0"/>
                </a:lnTo>
                <a:lnTo>
                  <a:pt x="7511530" y="6065560"/>
                </a:lnTo>
                <a:lnTo>
                  <a:pt x="0" y="6065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166399" y="1233825"/>
            <a:ext cx="1175513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We need to talk about your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1224" y="8991917"/>
            <a:ext cx="6063939" cy="762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spc="449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YOU HAVE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56942" y="8991917"/>
            <a:ext cx="5878458" cy="762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spc="449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YOU WANT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1175513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HAU Data Policy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0647" y="9464626"/>
            <a:ext cx="4999513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www.weharris.me/files/HA_Data_Policy_v2025.docx"/>
              </a:rPr>
              <a:t>Harris, W.E. 2025. Harper Adams University Scientific Data Policy, Harper Adams University, Edgmond, UK.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6745" y="3185440"/>
            <a:ext cx="15234510" cy="479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Establishes standards for research data aligned with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FAIR principles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(Findable, Accessible, Interoperable, Reusable).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Applies to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all research data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including the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Farm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and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Long-Term Experiments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Promotes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open, ethical, and high-quality data management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transparency and collaboration.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1175513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HAU Data Policy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0647" y="9464626"/>
            <a:ext cx="4999513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www.weharris.me/files/HA_Data_Policy_v2025.docx"/>
              </a:rPr>
              <a:t>Harris, W.E. 2025. Harper Adams University Scientific Data Policy, Harper Adams University, Edgmond, UK.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6745" y="3185440"/>
            <a:ext cx="15234510" cy="425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Requires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secure storage in the Harper Adams Dataverse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with DOIs for citation and access.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Emphasises Tidy Data, strong metadata, and documentation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reusability.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Defines clear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roles for researchers, students, IT, and administration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to ensure compliance and stewardship.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16290906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is this Tidy Data of which you speak?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8800" y="9484390"/>
            <a:ext cx="60272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www.jstatsoft.org/article/view/v059i10"/>
              </a:rPr>
              <a:t>Wickham, H., 2014. Tidy Data. Journal of Statistical Software 59, 1–23.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6161" y="3437593"/>
            <a:ext cx="14357815" cy="5605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Each variable is a column, each observation a row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Creates c</a:t>
            </a: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lear, consistent data structure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analysis and visualisation.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Enables </a:t>
            </a: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efficient, reproducible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and automated data workflows.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Documents variables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(e.g. as in a data dictionary), </a:t>
            </a: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sampling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experimental design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and/or </a:t>
            </a: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providence 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of data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 effect size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3019259" y="2396791"/>
            <a:ext cx="12373396" cy="7656039"/>
          </a:xfrm>
          <a:custGeom>
            <a:avLst/>
            <a:gdLst/>
            <a:ahLst/>
            <a:cxnLst/>
            <a:rect l="l" t="t" r="r" b="b"/>
            <a:pathLst>
              <a:path w="12373396" h="7656039">
                <a:moveTo>
                  <a:pt x="0" y="0"/>
                </a:moveTo>
                <a:lnTo>
                  <a:pt x="12373396" y="0"/>
                </a:lnTo>
                <a:lnTo>
                  <a:pt x="12373396" y="7656038"/>
                </a:lnTo>
                <a:lnTo>
                  <a:pt x="0" y="7656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1166399" y="1233825"/>
            <a:ext cx="16290906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is this Tidy Data of which you speak?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8800" y="9484390"/>
            <a:ext cx="60272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jstatsoft.org/article/view/v059i10"/>
              </a:rPr>
              <a:t>Wickham, H., 2014. Tidy Data. Journal of Statistical Software 59, 1–23.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45635" y="2956170"/>
            <a:ext cx="10310647" cy="5941510"/>
          </a:xfrm>
          <a:custGeom>
            <a:avLst/>
            <a:gdLst/>
            <a:ahLst/>
            <a:cxnLst/>
            <a:rect l="l" t="t" r="r" b="b"/>
            <a:pathLst>
              <a:path w="10310647" h="5941510">
                <a:moveTo>
                  <a:pt x="0" y="0"/>
                </a:moveTo>
                <a:lnTo>
                  <a:pt x="10310647" y="0"/>
                </a:lnTo>
                <a:lnTo>
                  <a:pt x="10310647" y="5941511"/>
                </a:lnTo>
                <a:lnTo>
                  <a:pt x="0" y="5941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160292" y="3803987"/>
            <a:ext cx="7974448" cy="4047033"/>
          </a:xfrm>
          <a:custGeom>
            <a:avLst/>
            <a:gdLst/>
            <a:ahLst/>
            <a:cxnLst/>
            <a:rect l="l" t="t" r="r" b="b"/>
            <a:pathLst>
              <a:path w="7974448" h="4047033">
                <a:moveTo>
                  <a:pt x="0" y="0"/>
                </a:moveTo>
                <a:lnTo>
                  <a:pt x="7974448" y="0"/>
                </a:lnTo>
                <a:lnTo>
                  <a:pt x="7974448" y="4047032"/>
                </a:lnTo>
                <a:lnTo>
                  <a:pt x="0" y="4047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166399" y="1233825"/>
            <a:ext cx="16290906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is this Tidy Data of which you speak?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8800" y="9484390"/>
            <a:ext cx="60272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www.jstatsoft.org/article/view/v059i10"/>
              </a:rPr>
              <a:t>Wickham, H., 2014. Tidy Data. Journal of Statistical Software 59, 1–23.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49083" y="8220710"/>
            <a:ext cx="7338917" cy="125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Also, need an account of the data creation or acquisition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421006" y="2458417"/>
            <a:ext cx="8611106" cy="7610065"/>
          </a:xfrm>
          <a:custGeom>
            <a:avLst/>
            <a:gdLst/>
            <a:ahLst/>
            <a:cxnLst/>
            <a:rect l="l" t="t" r="r" b="b"/>
            <a:pathLst>
              <a:path w="8611106" h="7610065">
                <a:moveTo>
                  <a:pt x="0" y="0"/>
                </a:moveTo>
                <a:lnTo>
                  <a:pt x="8611106" y="0"/>
                </a:lnTo>
                <a:lnTo>
                  <a:pt x="8611106" y="7610065"/>
                </a:lnTo>
                <a:lnTo>
                  <a:pt x="0" y="7610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544987" y="4005035"/>
            <a:ext cx="8995276" cy="3244810"/>
            <a:chOff x="0" y="0"/>
            <a:chExt cx="11993702" cy="432641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481978"/>
              <a:ext cx="11993702" cy="3844435"/>
              <a:chOff x="0" y="0"/>
              <a:chExt cx="2535738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5357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535738" h="812800">
                    <a:moveTo>
                      <a:pt x="0" y="0"/>
                    </a:moveTo>
                    <a:lnTo>
                      <a:pt x="2535738" y="0"/>
                    </a:lnTo>
                    <a:lnTo>
                      <a:pt x="2535738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535738" cy="850900"/>
              </a:xfrm>
              <a:prstGeom prst="rect">
                <a:avLst/>
              </a:prstGeom>
            </p:spPr>
            <p:txBody>
              <a:bodyPr lIns="36100" tIns="36100" rIns="36100" bIns="361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752978" y="0"/>
              <a:ext cx="10851980" cy="4145456"/>
            </a:xfrm>
            <a:custGeom>
              <a:avLst/>
              <a:gdLst/>
              <a:ahLst/>
              <a:cxnLst/>
              <a:rect l="l" t="t" r="r" b="b"/>
              <a:pathLst>
                <a:path w="10851980" h="4145456">
                  <a:moveTo>
                    <a:pt x="0" y="0"/>
                  </a:moveTo>
                  <a:lnTo>
                    <a:pt x="10851980" y="0"/>
                  </a:lnTo>
                  <a:lnTo>
                    <a:pt x="10851980" y="4145456"/>
                  </a:lnTo>
                  <a:lnTo>
                    <a:pt x="0" y="4145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66399" y="1233825"/>
            <a:ext cx="1422996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So, how can YOU publish your data?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3723" y="9087168"/>
            <a:ext cx="2794477" cy="313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ataverse.org"/>
              </a:rPr>
              <a:t>https://dataverse.org/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6210878" y="4440065"/>
            <a:ext cx="11301259" cy="5339845"/>
          </a:xfrm>
          <a:custGeom>
            <a:avLst/>
            <a:gdLst/>
            <a:ahLst/>
            <a:cxnLst/>
            <a:rect l="l" t="t" r="r" b="b"/>
            <a:pathLst>
              <a:path w="11301259" h="5339845">
                <a:moveTo>
                  <a:pt x="0" y="0"/>
                </a:moveTo>
                <a:lnTo>
                  <a:pt x="11301259" y="0"/>
                </a:lnTo>
                <a:lnTo>
                  <a:pt x="11301259" y="5339844"/>
                </a:lnTo>
                <a:lnTo>
                  <a:pt x="0" y="533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2229233" y="2713373"/>
            <a:ext cx="6841853" cy="2430127"/>
            <a:chOff x="0" y="0"/>
            <a:chExt cx="9122470" cy="324016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120452"/>
              <a:ext cx="9122470" cy="2924097"/>
              <a:chOff x="0" y="0"/>
              <a:chExt cx="2535738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5357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535738" h="812800">
                    <a:moveTo>
                      <a:pt x="0" y="0"/>
                    </a:moveTo>
                    <a:lnTo>
                      <a:pt x="2535738" y="0"/>
                    </a:lnTo>
                    <a:lnTo>
                      <a:pt x="2535738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535738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84772" y="0"/>
              <a:ext cx="8791939" cy="3240169"/>
            </a:xfrm>
            <a:custGeom>
              <a:avLst/>
              <a:gdLst/>
              <a:ahLst/>
              <a:cxnLst/>
              <a:rect l="l" t="t" r="r" b="b"/>
              <a:pathLst>
                <a:path w="8791939" h="3240169">
                  <a:moveTo>
                    <a:pt x="0" y="0"/>
                  </a:moveTo>
                  <a:lnTo>
                    <a:pt x="8791939" y="0"/>
                  </a:lnTo>
                  <a:lnTo>
                    <a:pt x="8791939" y="3240169"/>
                  </a:lnTo>
                  <a:lnTo>
                    <a:pt x="0" y="324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23" b="-62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66399" y="1233825"/>
            <a:ext cx="1422996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So, how can YOU publish your data?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012" y="6172486"/>
            <a:ext cx="5140689" cy="234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5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(Data Multiverse)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1778" y="9229725"/>
            <a:ext cx="5691783" cy="31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ataverse.harvard.edu/dataverse/harvard"/>
              </a:rPr>
              <a:t>https://dataverse.harvard.edu/dataverse/harvard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229233" y="2713373"/>
            <a:ext cx="6841853" cy="2430127"/>
            <a:chOff x="0" y="0"/>
            <a:chExt cx="9122470" cy="324016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20452"/>
              <a:ext cx="9122470" cy="2924097"/>
              <a:chOff x="0" y="0"/>
              <a:chExt cx="2535738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5357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535738" h="812800">
                    <a:moveTo>
                      <a:pt x="0" y="0"/>
                    </a:moveTo>
                    <a:lnTo>
                      <a:pt x="2535738" y="0"/>
                    </a:lnTo>
                    <a:lnTo>
                      <a:pt x="2535738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535738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184772" y="0"/>
              <a:ext cx="8791939" cy="3240169"/>
            </a:xfrm>
            <a:custGeom>
              <a:avLst/>
              <a:gdLst/>
              <a:ahLst/>
              <a:cxnLst/>
              <a:rect l="l" t="t" r="r" b="b"/>
              <a:pathLst>
                <a:path w="8791939" h="3240169">
                  <a:moveTo>
                    <a:pt x="0" y="0"/>
                  </a:moveTo>
                  <a:lnTo>
                    <a:pt x="8791939" y="0"/>
                  </a:lnTo>
                  <a:lnTo>
                    <a:pt x="8791939" y="3240169"/>
                  </a:lnTo>
                  <a:lnTo>
                    <a:pt x="0" y="324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3" b="-62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Freeform 8"/>
          <p:cNvSpPr/>
          <p:nvPr/>
        </p:nvSpPr>
        <p:spPr>
          <a:xfrm>
            <a:off x="8281381" y="4518666"/>
            <a:ext cx="5525506" cy="5332755"/>
          </a:xfrm>
          <a:custGeom>
            <a:avLst/>
            <a:gdLst/>
            <a:ahLst/>
            <a:cxnLst/>
            <a:rect l="l" t="t" r="r" b="b"/>
            <a:pathLst>
              <a:path w="5525506" h="5332755">
                <a:moveTo>
                  <a:pt x="0" y="0"/>
                </a:moveTo>
                <a:lnTo>
                  <a:pt x="5525506" y="0"/>
                </a:lnTo>
                <a:lnTo>
                  <a:pt x="5525506" y="5332755"/>
                </a:lnTo>
                <a:lnTo>
                  <a:pt x="0" y="5332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166399" y="1233825"/>
            <a:ext cx="1422996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So, how can YOU publish your data?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012" y="6172486"/>
            <a:ext cx="5140689" cy="234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5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(Data Multiverse)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2FCA2-F01E-259B-540B-31FFC0396C1F}"/>
              </a:ext>
            </a:extLst>
          </p:cNvPr>
          <p:cNvSpPr txBox="1"/>
          <p:nvPr/>
        </p:nvSpPr>
        <p:spPr>
          <a:xfrm>
            <a:off x="521778" y="9229725"/>
            <a:ext cx="5691783" cy="31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ataverse.harvard.edu/dataverse/harvard"/>
              </a:rPr>
              <a:t>https://dataverse.harvard.edu/dataverse/harvard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294985" y="2529119"/>
            <a:ext cx="4657762" cy="2742258"/>
          </a:xfrm>
          <a:custGeom>
            <a:avLst/>
            <a:gdLst/>
            <a:ahLst/>
            <a:cxnLst/>
            <a:rect l="l" t="t" r="r" b="b"/>
            <a:pathLst>
              <a:path w="4657762" h="2742258">
                <a:moveTo>
                  <a:pt x="0" y="0"/>
                </a:moveTo>
                <a:lnTo>
                  <a:pt x="4657762" y="0"/>
                </a:lnTo>
                <a:lnTo>
                  <a:pt x="4657762" y="2742258"/>
                </a:lnTo>
                <a:lnTo>
                  <a:pt x="0" y="2742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7219389" y="2672804"/>
            <a:ext cx="10787073" cy="7456564"/>
          </a:xfrm>
          <a:custGeom>
            <a:avLst/>
            <a:gdLst/>
            <a:ahLst/>
            <a:cxnLst/>
            <a:rect l="l" t="t" r="r" b="b"/>
            <a:pathLst>
              <a:path w="10787073" h="7456564">
                <a:moveTo>
                  <a:pt x="0" y="0"/>
                </a:moveTo>
                <a:lnTo>
                  <a:pt x="10787073" y="0"/>
                </a:lnTo>
                <a:lnTo>
                  <a:pt x="10787073" y="7456564"/>
                </a:lnTo>
                <a:lnTo>
                  <a:pt x="0" y="7456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1166399" y="1233825"/>
            <a:ext cx="1422996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So, how can YOU publish your data?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4141" y="9229725"/>
            <a:ext cx="6895248" cy="313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ataverse.harvard.edu/dataverse/HAUDataverse/"/>
              </a:rPr>
              <a:t>https://dataverse.harvard.edu/dataverse/HAUDataverse/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324141" y="2604790"/>
            <a:ext cx="4657762" cy="2742258"/>
          </a:xfrm>
          <a:custGeom>
            <a:avLst/>
            <a:gdLst/>
            <a:ahLst/>
            <a:cxnLst/>
            <a:rect l="l" t="t" r="r" b="b"/>
            <a:pathLst>
              <a:path w="4657762" h="2742258">
                <a:moveTo>
                  <a:pt x="0" y="0"/>
                </a:moveTo>
                <a:lnTo>
                  <a:pt x="4657762" y="0"/>
                </a:lnTo>
                <a:lnTo>
                  <a:pt x="4657762" y="2742258"/>
                </a:lnTo>
                <a:lnTo>
                  <a:pt x="0" y="2742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1422996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So, how can YOU publish your data?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4140" y="9229725"/>
            <a:ext cx="6762459" cy="313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dataverse.harvard.edu/dataverse/HAUDataverse/"/>
              </a:rPr>
              <a:t>https://dataverse.harvard.edu/dataverse/HAUDataverse/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45236" y="3620407"/>
            <a:ext cx="9634293" cy="5043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Adheres to </a:t>
            </a: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HAU data policy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Documents data, effect size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etc. for researchers, (e.g. supervisors, designing </a:t>
            </a:r>
            <a:r>
              <a:rPr lang="en-US" sz="3199" i="1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next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experiment)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Provides DOI</a:t>
            </a: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citations, community, cv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51423" y="3298785"/>
            <a:ext cx="4212627" cy="4076186"/>
          </a:xfrm>
          <a:custGeom>
            <a:avLst/>
            <a:gdLst/>
            <a:ahLst/>
            <a:cxnLst/>
            <a:rect l="l" t="t" r="r" b="b"/>
            <a:pathLst>
              <a:path w="4212627" h="4076186">
                <a:moveTo>
                  <a:pt x="0" y="0"/>
                </a:moveTo>
                <a:lnTo>
                  <a:pt x="4212627" y="0"/>
                </a:lnTo>
                <a:lnTo>
                  <a:pt x="4212627" y="4076186"/>
                </a:lnTo>
                <a:lnTo>
                  <a:pt x="0" y="4076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1422996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Full support to publish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4141" y="9229725"/>
            <a:ext cx="7981659" cy="313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www.weharris.me/files/HA_Stats_Service_Policy_2025.docx"/>
              </a:rPr>
              <a:t>https://www.weharris.me/files/HA_Stats_Service_Policy_2025.docx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7437" y="3294521"/>
            <a:ext cx="9634293" cy="5043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Tidy data formating and “metadata” prep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Effect size communication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DOI registration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Licencing advice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(self-service in future)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51423" y="3298785"/>
            <a:ext cx="4212627" cy="4076186"/>
          </a:xfrm>
          <a:custGeom>
            <a:avLst/>
            <a:gdLst/>
            <a:ahLst/>
            <a:cxnLst/>
            <a:rect l="l" t="t" r="r" b="b"/>
            <a:pathLst>
              <a:path w="4212627" h="4076186">
                <a:moveTo>
                  <a:pt x="0" y="0"/>
                </a:moveTo>
                <a:lnTo>
                  <a:pt x="4212627" y="0"/>
                </a:lnTo>
                <a:lnTo>
                  <a:pt x="4212627" y="4076186"/>
                </a:lnTo>
                <a:lnTo>
                  <a:pt x="0" y="4076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1862569" y="3950987"/>
            <a:ext cx="2285778" cy="2285778"/>
          </a:xfrm>
          <a:custGeom>
            <a:avLst/>
            <a:gdLst/>
            <a:ahLst/>
            <a:cxnLst/>
            <a:rect l="l" t="t" r="r" b="b"/>
            <a:pathLst>
              <a:path w="2285778" h="2285778">
                <a:moveTo>
                  <a:pt x="0" y="0"/>
                </a:moveTo>
                <a:lnTo>
                  <a:pt x="2285778" y="0"/>
                </a:lnTo>
                <a:lnTo>
                  <a:pt x="2285778" y="2285778"/>
                </a:lnTo>
                <a:lnTo>
                  <a:pt x="0" y="228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643736" y="6568956"/>
            <a:ext cx="2236897" cy="2285778"/>
          </a:xfrm>
          <a:custGeom>
            <a:avLst/>
            <a:gdLst/>
            <a:ahLst/>
            <a:cxnLst/>
            <a:rect l="l" t="t" r="r" b="b"/>
            <a:pathLst>
              <a:path w="2236897" h="2285778">
                <a:moveTo>
                  <a:pt x="0" y="0"/>
                </a:moveTo>
                <a:lnTo>
                  <a:pt x="2236897" y="0"/>
                </a:lnTo>
                <a:lnTo>
                  <a:pt x="2236897" y="2285778"/>
                </a:lnTo>
                <a:lnTo>
                  <a:pt x="0" y="2285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8030757" y="6568956"/>
            <a:ext cx="2285778" cy="2285778"/>
          </a:xfrm>
          <a:custGeom>
            <a:avLst/>
            <a:gdLst/>
            <a:ahLst/>
            <a:cxnLst/>
            <a:rect l="l" t="t" r="r" b="b"/>
            <a:pathLst>
              <a:path w="2285778" h="2285778">
                <a:moveTo>
                  <a:pt x="0" y="0"/>
                </a:moveTo>
                <a:lnTo>
                  <a:pt x="2285777" y="0"/>
                </a:lnTo>
                <a:lnTo>
                  <a:pt x="2285777" y="2285778"/>
                </a:lnTo>
                <a:lnTo>
                  <a:pt x="0" y="2285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9173646" y="3950987"/>
            <a:ext cx="2285778" cy="2285778"/>
          </a:xfrm>
          <a:custGeom>
            <a:avLst/>
            <a:gdLst/>
            <a:ahLst/>
            <a:cxnLst/>
            <a:rect l="l" t="t" r="r" b="b"/>
            <a:pathLst>
              <a:path w="2285778" h="2285778">
                <a:moveTo>
                  <a:pt x="0" y="0"/>
                </a:moveTo>
                <a:lnTo>
                  <a:pt x="2285777" y="0"/>
                </a:lnTo>
                <a:lnTo>
                  <a:pt x="2285777" y="2285778"/>
                </a:lnTo>
                <a:lnTo>
                  <a:pt x="0" y="2285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3276613" y="6568956"/>
            <a:ext cx="2285778" cy="2285778"/>
          </a:xfrm>
          <a:custGeom>
            <a:avLst/>
            <a:gdLst/>
            <a:ahLst/>
            <a:cxnLst/>
            <a:rect l="l" t="t" r="r" b="b"/>
            <a:pathLst>
              <a:path w="2285778" h="2285778">
                <a:moveTo>
                  <a:pt x="0" y="0"/>
                </a:moveTo>
                <a:lnTo>
                  <a:pt x="2285778" y="0"/>
                </a:lnTo>
                <a:lnTo>
                  <a:pt x="2285778" y="2285778"/>
                </a:lnTo>
                <a:lnTo>
                  <a:pt x="0" y="2285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166399" y="1233825"/>
            <a:ext cx="1422996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Full support to publish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4141" y="9229725"/>
            <a:ext cx="7957240" cy="313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www.weharris.me/files/HA_Stats_Service_Policy_2025.docx"/>
              </a:rPr>
              <a:t>https://www.weharris.me/files/HA_Stats_Service_Policy_2025.docx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81381" y="2751415"/>
            <a:ext cx="6867377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Contact us anytime to discuss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17715" y="5095875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HADC! (HARPER ADAMS DATA CLUB)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Ed Harris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2025-10-28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896</Words>
  <Application>Microsoft Office PowerPoint</Application>
  <PresentationFormat>Custom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DM Serif Display</vt:lpstr>
      <vt:lpstr>Open Sauce</vt:lpstr>
      <vt:lpstr>Arial</vt:lpstr>
      <vt:lpstr>Open Sauce Bold</vt:lpstr>
      <vt:lpstr>Open Sauce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HADC! 2025-10-28</dc:title>
  <cp:lastModifiedBy>Ed Harris</cp:lastModifiedBy>
  <cp:revision>2</cp:revision>
  <dcterms:created xsi:type="dcterms:W3CDTF">2006-08-16T00:00:00Z</dcterms:created>
  <dcterms:modified xsi:type="dcterms:W3CDTF">2025-10-28T07:10:54Z</dcterms:modified>
  <dc:identifier>DAG2fzP7OVs</dc:identifier>
</cp:coreProperties>
</file>